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DADF"/>
    <a:srgbClr val="E709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915C9-73AB-16A9-2837-A4506FC0C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81BF3E-052A-36B3-ECE0-9137E84F4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9C3BF4-E71A-DCF3-6C24-7A1EA053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DEF294-5901-5344-4A31-324A4F93E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DEADA8-A282-512F-F339-FAA1E2CCF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8163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18B78-F869-ACD2-0FD8-E7B4FF254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FDEC93-BD44-D389-348E-042EBC99F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22BBF8-E559-3F8D-B5E7-D3996FCD3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C29741-C7B2-39E5-E818-93699C86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9BE0D3-C099-27E8-9C36-0DFA7534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227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E8B11-BC18-31B3-2BBB-A04B4469A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7B37D0-4F80-173D-C784-E847FFABD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3F3B57-A546-A214-9F4F-F90F996B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364616-718B-258B-F0CA-7B2AC365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C877E0-9F1D-E6B0-C412-267C7AC1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683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B3CC4-02B3-DECA-5E15-11EB9E49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7BCCE2-F711-5635-64D2-0F15AA394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4B6725-95BA-6C5B-85BE-F1F9CB3B0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F77903-3C9E-41E8-112E-4CBD3D01D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98BE9D-5781-F99C-0C0E-FED8E711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A2D80B-E148-68A5-217E-9EF155D8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429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3587B-AAD2-47F1-D1E0-F01BFD7E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A8DA1D-D45A-ED24-EFDF-BB9829C5E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AB4EC8-21D4-6CFF-9ECB-E0C5A3FA8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EA262F-DE39-48DA-A734-44A4503CB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005D4D8-CBF1-872D-9E65-1E661F598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5A8C024-3019-92B5-CAB8-67E838DDF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CB1E2B1-9C18-7A7C-B7E9-51D813C55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38399FE-6D13-5975-8075-BD57FF46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161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1F5E8-E63E-2284-3EF5-9945A9AF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BEF4F3C-0ACB-F65A-3C0F-EFFC2C98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FBFD29-0025-45E6-327D-91195A7B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B81B78-AEC5-CBDD-BEA5-844BE4BE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097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56E96C-0037-08CE-5E1A-1A0ACEAE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D583C53-CB6E-B8BF-81B7-E7610392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16D136-326D-3CF9-A179-F8C0F4DA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0899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72842-B473-AD46-8AF6-BE649DF1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BA04DF-44AB-0AD2-6896-1777612E0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C8BD1-43F3-58B7-CD94-CBE7DEC4B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75B78A-94DF-5CCC-31F6-4ABFE9E6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191285-250A-A51B-05AB-3995D96A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AD08DF-EB72-63DB-D6B1-21AC40CC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0019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5237F-D6E3-6719-BA76-62DC09F5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27B781-3BF6-6840-3607-FA220A25B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8B92BB-72D6-8643-0746-9681932A2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BC307C-8039-F0D2-2527-ACB88E402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FF609D-3DE5-8314-6211-76EC3322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8BAF35-F510-A411-4C38-ABA6DC14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0141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738CB-F00F-351B-87A9-21AD558F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3C6B6D0-478F-96C9-0141-27629B732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B17575-BE1D-5F8A-23C5-32FD3A3C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DF7115-C903-7A1F-22C7-F0E98406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9D0BA0-BF43-E807-94F4-4C1909C7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926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B269F9-744E-0312-63F4-11AAF5560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926530-AA6D-B225-6300-98309C4F6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7EC2E0-078F-2458-BC0C-2AA16092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28E1C-5AE4-D13C-0281-54638C41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A3C5AE-D48B-47C0-77D0-AF4587F1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865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A8C2B8-0313-45B4-D4BB-DED21DEB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2C8DCF-88E8-C625-9825-FF3D2C0E8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2DFA83-CC32-0CF7-E042-F741A3AD4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DD861A-8B22-D471-5CE3-A8D2DF025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280789-675D-43E0-E5AF-D1D4E4C09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711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B0F10F4-EC5F-30A0-BE6D-EBF853677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699039"/>
              </p:ext>
            </p:extLst>
          </p:nvPr>
        </p:nvGraphicFramePr>
        <p:xfrm>
          <a:off x="0" y="5375"/>
          <a:ext cx="12192000" cy="3596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578367293"/>
                    </a:ext>
                  </a:extLst>
                </a:gridCol>
              </a:tblGrid>
              <a:tr h="3119565">
                <a:tc>
                  <a:txBody>
                    <a:bodyPr/>
                    <a:lstStyle/>
                    <a:p>
                      <a:r>
                        <a:rPr lang="es-ES" sz="23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PROPÓSITO DE APRENDIZAJE:</a:t>
                      </a:r>
                    </a:p>
                    <a:p>
                      <a:r>
                        <a:rPr lang="es-ES" sz="23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Diseña sistemas electrónicos e inspecciona y diagnostica fallas de funcionamiento con referencia a las especificaciones técnicas.</a:t>
                      </a:r>
                    </a:p>
                    <a:p>
                      <a:r>
                        <a:rPr lang="es-ES" sz="23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CRITERIO DE EVALUACIÓN:</a:t>
                      </a:r>
                    </a:p>
                    <a:p>
                      <a:r>
                        <a:rPr lang="es-ES" sz="23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Selecciona los dispositivos y componentes utilizados en los circuitos electrónicos de acuerdo a los requerimientos del proyecto y especificaciones técnicas.</a:t>
                      </a:r>
                    </a:p>
                    <a:p>
                      <a:r>
                        <a:rPr lang="es-ES" sz="23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Examina equipos de domótica, siguiendo especificaciones técnicas</a:t>
                      </a:r>
                    </a:p>
                    <a:p>
                      <a:r>
                        <a:rPr lang="es-ES" sz="23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Ensambla y examina circuitos electrónicos aplicando técnicas de manipulación, fijación, herramientas e instrumentos adecuados. (Alarma)</a:t>
                      </a:r>
                    </a:p>
                    <a:p>
                      <a:r>
                        <a:rPr lang="es-ES" sz="23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 circuitos electrónicos programables (Arduino Uno R3 - </a:t>
                      </a:r>
                      <a:r>
                        <a:rPr lang="es-ES" sz="2300" b="1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TinkerCad</a:t>
                      </a:r>
                      <a:r>
                        <a:rPr lang="es-ES" sz="23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569169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3032E56-0084-C178-A539-C6D4EAA77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731824"/>
              </p:ext>
            </p:extLst>
          </p:nvPr>
        </p:nvGraphicFramePr>
        <p:xfrm>
          <a:off x="0" y="3602015"/>
          <a:ext cx="12192000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236929381"/>
                    </a:ext>
                  </a:extLst>
                </a:gridCol>
              </a:tblGrid>
              <a:tr h="3325063">
                <a:tc>
                  <a:txBody>
                    <a:bodyPr/>
                    <a:lstStyle/>
                    <a:p>
                      <a:r>
                        <a:rPr lang="es-ES" sz="2400" b="1" dirty="0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ACTIVIDADES: </a:t>
                      </a:r>
                      <a:endParaRPr lang="es-ES" sz="2400" b="1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r>
                        <a:rPr lang="es-ES" sz="2400" b="1" dirty="0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A-1: Revisa e implementa diversos circuitos electrónicos verificando su funcionalidad de los componentes electrónicos utilizando PCB WIZARD u otros softwares.</a:t>
                      </a:r>
                      <a:endParaRPr lang="es-ES" sz="2400" b="1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r>
                        <a:rPr lang="es-ES" sz="2400" b="1" dirty="0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A-2: Ensambla los componentes electrónicos y examina sistemas electrónicos de acuerdo al diseño realizado e interpretando diagramas.</a:t>
                      </a:r>
                      <a:endParaRPr lang="es-ES" sz="2400" b="1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r>
                        <a:rPr lang="es-ES" sz="2400" b="1" dirty="0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A-3: Elabora un cuadro comparativo de equipos de domótica y tablas sobre las características y funciones de los sensores y actuadores. </a:t>
                      </a:r>
                      <a:endParaRPr lang="es-ES" sz="2400" b="1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r>
                        <a:rPr lang="es-ES" sz="2400" b="1" dirty="0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A-4: Programa, compila y sube códigos utilizando estructuras con </a:t>
                      </a:r>
                      <a:r>
                        <a:rPr lang="es-ES" sz="2400" b="1" dirty="0" err="1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for</a:t>
                      </a:r>
                      <a:r>
                        <a:rPr lang="es-ES" sz="2400" b="1" dirty="0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s-ES" sz="2400" b="1" dirty="0" err="1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if-else</a:t>
                      </a:r>
                      <a:r>
                        <a:rPr lang="es-ES" sz="2400" b="1" dirty="0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y otros en Arduino IDE y/o App Arduino </a:t>
                      </a:r>
                      <a:r>
                        <a:rPr lang="es-ES" sz="2400" b="1" dirty="0" err="1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Droid</a:t>
                      </a:r>
                      <a:r>
                        <a:rPr lang="es-ES" sz="2400" b="1" dirty="0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y/o </a:t>
                      </a:r>
                      <a:r>
                        <a:rPr lang="es-ES" sz="2400" b="1" dirty="0" err="1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Tinkercad</a:t>
                      </a:r>
                      <a:r>
                        <a:rPr lang="es-ES" sz="2400" b="1" dirty="0"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   </a:t>
                      </a:r>
                      <a:endParaRPr lang="es-ES" sz="2400" b="1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21D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93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164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B0F10F4-EC5F-30A0-BE6D-EBF853677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170125"/>
              </p:ext>
            </p:extLst>
          </p:nvPr>
        </p:nvGraphicFramePr>
        <p:xfrm>
          <a:off x="0" y="484769"/>
          <a:ext cx="12192000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578367293"/>
                    </a:ext>
                  </a:extLst>
                </a:gridCol>
              </a:tblGrid>
              <a:tr h="7936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dirty="0">
                          <a:effectLst/>
                        </a:rPr>
                        <a:t>CAPACIDADES: Propuesta de valor --- Trabaja </a:t>
                      </a:r>
                      <a:r>
                        <a:rPr lang="es-ES" sz="2400" dirty="0" err="1">
                          <a:effectLst/>
                        </a:rPr>
                        <a:t>cooperativ</a:t>
                      </a:r>
                      <a:r>
                        <a:rPr lang="es-ES" sz="2400" dirty="0">
                          <a:effectLst/>
                        </a:rPr>
                        <a:t>. para lograr objetivos y metas -- Aplica habilidades técnicas – Evalúa los </a:t>
                      </a:r>
                      <a:r>
                        <a:rPr lang="es-ES" sz="2400" dirty="0" err="1">
                          <a:effectLst/>
                        </a:rPr>
                        <a:t>proyec</a:t>
                      </a:r>
                      <a:r>
                        <a:rPr lang="es-ES" sz="2400" dirty="0">
                          <a:effectLst/>
                        </a:rPr>
                        <a:t>. </a:t>
                      </a:r>
                      <a:endParaRPr lang="es-ES" sz="24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569169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3032E56-0084-C178-A539-C6D4EAA77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541555"/>
              </p:ext>
            </p:extLst>
          </p:nvPr>
        </p:nvGraphicFramePr>
        <p:xfrm>
          <a:off x="-8878" y="4500979"/>
          <a:ext cx="12200878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00878">
                  <a:extLst>
                    <a:ext uri="{9D8B030D-6E8A-4147-A177-3AD203B41FA5}">
                      <a16:colId xmlns:a16="http://schemas.microsoft.com/office/drawing/2014/main" val="3236929381"/>
                    </a:ext>
                  </a:extLst>
                </a:gridCol>
              </a:tblGrid>
              <a:tr h="2554106">
                <a:tc>
                  <a:txBody>
                    <a:bodyPr/>
                    <a:lstStyle/>
                    <a:p>
                      <a:r>
                        <a:rPr lang="es-ES" sz="2400" b="1" dirty="0">
                          <a:effectLst/>
                        </a:rPr>
                        <a:t>ACTIVIDADES: </a:t>
                      </a:r>
                    </a:p>
                    <a:p>
                      <a:r>
                        <a:rPr lang="es-ES" sz="2400" b="1" dirty="0">
                          <a:effectLst/>
                        </a:rPr>
                        <a:t>A-1: Comprendemos el bloque de canales del lienzo Lean </a:t>
                      </a:r>
                      <a:r>
                        <a:rPr lang="es-ES" sz="2400" b="1" dirty="0" err="1">
                          <a:effectLst/>
                        </a:rPr>
                        <a:t>Canvas</a:t>
                      </a:r>
                      <a:r>
                        <a:rPr lang="es-ES" sz="2400" b="1" dirty="0">
                          <a:effectLst/>
                        </a:rPr>
                        <a:t> (Parte II)</a:t>
                      </a:r>
                    </a:p>
                    <a:p>
                      <a:pPr marL="342900" lvl="0" indent="-342900">
                        <a:buFont typeface="Arial Narrow" panose="020B0606020202030204" pitchFamily="34" charset="0"/>
                        <a:buChar char="-"/>
                      </a:pPr>
                      <a:r>
                        <a:rPr lang="es-ES" sz="2400" b="1" dirty="0">
                          <a:effectLst/>
                        </a:rPr>
                        <a:t>Nos informamos sobre el bloque de canales del lienzo Lean </a:t>
                      </a:r>
                      <a:r>
                        <a:rPr lang="es-ES" sz="2400" b="1" dirty="0" err="1">
                          <a:effectLst/>
                        </a:rPr>
                        <a:t>Canvas</a:t>
                      </a:r>
                      <a:r>
                        <a:rPr lang="es-ES" sz="2400" b="1" dirty="0">
                          <a:effectLst/>
                        </a:rPr>
                        <a:t> </a:t>
                      </a:r>
                    </a:p>
                    <a:p>
                      <a:pPr marL="342900" lvl="0" indent="-342900">
                        <a:buFont typeface="Arial Narrow" panose="020B0606020202030204" pitchFamily="34" charset="0"/>
                        <a:buChar char="-"/>
                      </a:pPr>
                      <a:r>
                        <a:rPr lang="es-ES" sz="2400" b="1" dirty="0">
                          <a:effectLst/>
                        </a:rPr>
                        <a:t>Implementamos un cuadro comparativo del canal físico y del canal web</a:t>
                      </a:r>
                    </a:p>
                    <a:p>
                      <a:r>
                        <a:rPr lang="es-ES" sz="2400" b="1" dirty="0">
                          <a:effectLst/>
                        </a:rPr>
                        <a:t>A-2: Analizamos los canales físicos y web del bloque canales y las actividades realizadas en el portafolio de </a:t>
                      </a:r>
                      <a:r>
                        <a:rPr lang="es-ES" sz="2400" b="1" dirty="0" err="1">
                          <a:effectLst/>
                        </a:rPr>
                        <a:t>CyE</a:t>
                      </a:r>
                      <a:r>
                        <a:rPr lang="es-ES" sz="2400" b="1" dirty="0">
                          <a:effectLst/>
                        </a:rPr>
                        <a:t>.</a:t>
                      </a:r>
                      <a:endParaRPr lang="es-ES" sz="2400" b="1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endParaRPr lang="es-ES" sz="2400" b="1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21D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93328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50902C3-FFB0-038B-D0E1-0D6B504E7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930983"/>
              </p:ext>
            </p:extLst>
          </p:nvPr>
        </p:nvGraphicFramePr>
        <p:xfrm>
          <a:off x="0" y="0"/>
          <a:ext cx="12191999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1999">
                  <a:extLst>
                    <a:ext uri="{9D8B030D-6E8A-4147-A177-3AD203B41FA5}">
                      <a16:colId xmlns:a16="http://schemas.microsoft.com/office/drawing/2014/main" val="159579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" sz="2400" dirty="0">
                          <a:effectLst/>
                          <a:highlight>
                            <a:srgbClr val="F2F2F2"/>
                          </a:highlight>
                        </a:rPr>
                        <a:t>COMPETENCIA DEL ÁREA: Gestiona proyectos de emprendimiento económico o social</a:t>
                      </a:r>
                      <a:endParaRPr lang="es-ES" sz="2400" dirty="0">
                        <a:effectLst/>
                        <a:highlight>
                          <a:srgbClr val="F2F2F2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106599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32044BC9-A6DB-AB25-7589-E20044602122}"/>
              </a:ext>
            </a:extLst>
          </p:cNvPr>
          <p:cNvSpPr txBox="1"/>
          <p:nvPr/>
        </p:nvSpPr>
        <p:spPr>
          <a:xfrm>
            <a:off x="0" y="1335226"/>
            <a:ext cx="1219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b="1" dirty="0">
                <a:effectLst/>
              </a:rPr>
              <a:t>PROPÓSITO DE APRENDIZAJE:</a:t>
            </a:r>
          </a:p>
          <a:p>
            <a:r>
              <a:rPr lang="es-ES" sz="2200" b="1" dirty="0">
                <a:effectLst/>
              </a:rPr>
              <a:t>Selecciona los insumos y materiales necesarios, y organiza actividades para su obtención. </a:t>
            </a:r>
          </a:p>
          <a:p>
            <a:r>
              <a:rPr lang="es-ES" sz="2200" b="1" dirty="0">
                <a:effectLst/>
              </a:rPr>
              <a:t>Planifica las acciones que debe ejecutar para elaborar la propuesta de valor y prevé alternativas de solución ante situaciones imprevistas.</a:t>
            </a:r>
          </a:p>
          <a:p>
            <a:r>
              <a:rPr lang="es-ES" sz="2200" b="1" dirty="0">
                <a:effectLst/>
              </a:rPr>
              <a:t>Plantea hipótesis para cada bloque del Lienzo del Modelo de Negocios del Proyecto. </a:t>
            </a:r>
          </a:p>
          <a:p>
            <a:r>
              <a:rPr lang="es-ES" sz="2200" b="1" dirty="0">
                <a:effectLst/>
              </a:rPr>
              <a:t>CRITERIO DE EVALUACIÓN</a:t>
            </a:r>
          </a:p>
          <a:p>
            <a:r>
              <a:rPr lang="es-ES" sz="2200" b="1" dirty="0">
                <a:effectLst/>
              </a:rPr>
              <a:t>Aplicamos el modelo de negocios Lean </a:t>
            </a:r>
            <a:r>
              <a:rPr lang="es-ES" sz="2200" b="1" dirty="0" err="1">
                <a:effectLst/>
              </a:rPr>
              <a:t>Canvas</a:t>
            </a:r>
            <a:r>
              <a:rPr lang="es-ES" sz="2200" b="1" dirty="0">
                <a:effectLst/>
              </a:rPr>
              <a:t> (Parte II)</a:t>
            </a:r>
          </a:p>
          <a:p>
            <a:r>
              <a:rPr lang="es-ES" sz="2200" b="1" dirty="0">
                <a:effectLst/>
              </a:rPr>
              <a:t>Plantean hipótesis para cada bloque del Lienzo del Modelo de Negocios del Proyecto. (Parte II)</a:t>
            </a:r>
          </a:p>
          <a:p>
            <a:r>
              <a:rPr lang="es-ES" sz="2200" b="1" dirty="0">
                <a:effectLst/>
              </a:rPr>
              <a:t>Evalúa los avances y resultados obtenidos en las 21 semanas de avance del proyecto.</a:t>
            </a:r>
            <a:endParaRPr lang="es-ES" sz="2200" b="1" dirty="0"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124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375</Words>
  <Application>Microsoft Office PowerPoint</Application>
  <PresentationFormat>Panorámica</PresentationFormat>
  <Paragraphs>27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julio soria</dc:creator>
  <cp:lastModifiedBy>julio soria</cp:lastModifiedBy>
  <cp:revision>5</cp:revision>
  <dcterms:created xsi:type="dcterms:W3CDTF">2024-08-15T01:39:59Z</dcterms:created>
  <dcterms:modified xsi:type="dcterms:W3CDTF">2024-08-16T05:22:22Z</dcterms:modified>
</cp:coreProperties>
</file>